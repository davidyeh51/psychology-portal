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【採用版型與風格】cover ｜ McKinsey &amp; Company</a:t>
            </a:r>
          </a:p>
          <a:p>
            <a:r>
              <a:t>① 本頁結論：自我發展的核心不是『修正個人的缺點』，而是『升級整個心理系統的運作架構』。</a:t>
            </a:r>
          </a:p>
          <a:p>
            <a:r>
              <a:t>② 補充說明：本份簡報由大衛雲 2.0 知識中樞萃取陳海賢博士 50 講精華，以頂尖顧問公司（McKinsey/BCG/Accenture）無雜訊標準製作，旨在為入門者提供痛點破解方案，為進階者建立系統性心智模型。</a:t>
            </a:r>
          </a:p>
          <a:p>
            <a:r>
              <a:t>③ 下一頁轉場：首先，讓我們透過全景架構圖，鳥瞰自我發展的五大進階維度。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(Combined Tree) ｜ McKinsey &amp; Company</a:t>
            </a:r>
          </a:p>
          <a:p>
            <a:r>
              <a:t>① 本頁結論：自我發展絕非修修補補，而是整個心智操作系統由下而上的結構性升級。</a:t>
            </a:r>
          </a:p>
          <a:p>
            <a:r>
              <a:t>② 補充說明：很多人改變失敗，以為是自己自律不足，實際上是因為行動、思維與關係的系統沒有連動。只有系統同步升級，改變才能持久。</a:t>
            </a:r>
          </a:p>
          <a:p>
            <a:r>
              <a:t>③ 下一頁轉場：接著，我們深入模組一，探討行為改變的深層動力機制。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BCG (Boston Consulting Group)</a:t>
            </a:r>
          </a:p>
          <a:p>
            <a:r>
              <a:t>① 本頁結論：推動行為改變的根本密碼，是為感性大象創造『切身體會到的新經驗』。</a:t>
            </a:r>
          </a:p>
          <a:p>
            <a:r>
              <a:t>② 補充說明：入門者常誤以為改變靠咬牙堅持，進階者則懂得設計環境場與微型第一步，讓大象在沒有阻力的情況下嚐到甜頭，自發向前走。</a:t>
            </a:r>
          </a:p>
          <a:p>
            <a:r>
              <a:t>③ 下一頁轉場：然而，當我們想採取新行動時，常遭遇內在頑固的阻抗，這就是羅伯特·凱根提出的心理免疫系統。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5：麥肯錫矩陣 (McKinsey Matrix) ｜ McKinsey &amp; Company</a:t>
            </a:r>
          </a:p>
          <a:p>
            <a:r>
              <a:t>① 本頁結論：表面上的拖延不是意志力缺陷，而是心理免疫系統在忠實保護我們的安全感。</a:t>
            </a:r>
          </a:p>
          <a:p>
            <a:r>
              <a:t>② 補充說明：當我們看見相反行為背後的『競爭性承諾』與『重大假設』時，內疚與自責就會消解，轉而能用科學實驗的心態去檢驗那些過時的假設。</a:t>
            </a:r>
          </a:p>
          <a:p>
            <a:r>
              <a:t>③ 下一頁轉場：在診斷完免疫系統後，我們必須區分兩種截然不同的改變層次：第一序列改變與第二序列改變。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Accenture</a:t>
            </a:r>
          </a:p>
          <a:p>
            <a:r>
              <a:t>① 本頁結論：當現有的解決方式無效時，再加大劑量只會毒害系統；唯有跳到系統之外，才能引發第二序列改變。</a:t>
            </a:r>
          </a:p>
          <a:p>
            <a:r>
              <a:t>② 補充說明：入門者常陷入『加倍努力』的旋渦，進階者則會退後一步審視：我正在玩的遊戲規則到底是什麼？如何重新定義問題？</a:t>
            </a:r>
          </a:p>
          <a:p>
            <a:r>
              <a:t>③ 下一頁轉場：要實現第二序列改變，我們必須進入第二模組，徹底檢視我們的大腦操作系統——心智模式。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論法 (BCG 2×2 Matrix) ｜ BCG (Boston Consulting Group)</a:t>
            </a:r>
          </a:p>
          <a:p>
            <a:r>
              <a:t>① 本頁結論：僵固型思維追求『證明自己』，成長型思維專注『發展自己』；後者讓挫折從『身分判決』轉變為『學習數據』。</a:t>
            </a:r>
          </a:p>
          <a:p>
            <a:r>
              <a:t>② 補充說明：對角線的僵固防禦與成長探索呈現完全對立的人生軌跡。只要改變詮釋挫折的視角，犯錯就從恥辱變成了成長的養分。</a:t>
            </a:r>
          </a:p>
          <a:p>
            <a:r>
              <a:t>③ 下一頁轉場：除了心智模式，思維中最常見的內耗元兇，就是強加在自己與世界身上的『應該思維』。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6：對立論法 (Opposition) ｜ McKinsey &amp; Company</a:t>
            </a:r>
          </a:p>
          <a:p>
            <a:r>
              <a:t>① 本頁結論：應該思維是企圖用主觀願望霸凌客觀現實；破除它的關鍵是把『我應該』換成『我希望，但我也能接納不如意』。</a:t>
            </a:r>
          </a:p>
          <a:p>
            <a:r>
              <a:t>② 補充說明：當我們將 A-B-C 框架熟練運用於日常，我們就奪回了對情緒的自主權——事件無法傷害我們，是我們對事件的信念在傷害我們。</a:t>
            </a:r>
          </a:p>
          <a:p>
            <a:r>
              <a:t>③ 下一頁轉場：瓦解了無效思維後，我們要如何將內在張力轉化為澎湃的行動力？這需要 WOOP 與控制兩分法。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7：比較論法 (Comparison) ｜ BCG (Boston Consulting Group)</a:t>
            </a:r>
          </a:p>
          <a:p>
            <a:r>
              <a:t>① 本頁結論：盲目的正向思考是無效的糖衣；真正的行動力來自『看見障礙（WOOP）』與『收斂至可控（控制兩分法）』的結合。</a:t>
            </a:r>
          </a:p>
          <a:p>
            <a:r>
              <a:t>② 補充說明：左邊提供推進的引擎動力，右邊提供聚焦的導航羅盤。中央的交集正是顧問界最強調的『執行意圖閉環』。</a:t>
            </a:r>
          </a:p>
          <a:p>
            <a:r>
              <a:t>③ 下一頁轉場：個人的行為與思維理順之後，我們必須將視角擴展到人際網絡——進入模組三：關係的改變。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5：麥肯錫矩陣 (McKinsey Matrix) ｜ McKinsey &amp; Company</a:t>
            </a:r>
          </a:p>
          <a:p>
            <a:r>
              <a:t>① 本頁結論：自我不是孤立的島嶼，而是在關係中被定義的節點。看懂系統互補，就沒有絕對的受害者與加害者。</a:t>
            </a:r>
          </a:p>
          <a:p>
            <a:r>
              <a:t>② 補充說明：當我們從線性因果切換到循環因果，我們就擁有了改變關係的主動權——因為只要我們停止原有的舞步，整場雙人舞就必須重編。</a:t>
            </a:r>
          </a:p>
          <a:p>
            <a:r>
              <a:t>③ 下一頁轉場：在所有關係病理中，最常見且具破壞性的，便是將第三方捲入衝突的『三角化』與黏稠的糾纏。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Accenture</a:t>
            </a:r>
          </a:p>
          <a:p>
            <a:r>
              <a:t>① 本頁結論：三角化是關係焦慮的止痛藥，卻是系統健康的慢性毒藥。唯有課題分離，才能將每個人歸還給自己。</a:t>
            </a:r>
          </a:p>
          <a:p>
            <a:r>
              <a:t>② 補充說明：當我們不再做他人的情緒垃圾桶或代罪羔羊，我們才能在邊界分明的基礎上，展開真正有愛而獨立的互動。</a:t>
            </a:r>
          </a:p>
          <a:p>
            <a:r>
              <a:t>③ 下一頁轉場：劃清了界限之後，我們要如何開口溝通？馬歇爾·盧森堡的『非暴力溝通』給出了精準的操作範本。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BCG (Boston Consulting Group)</a:t>
            </a:r>
          </a:p>
          <a:p>
            <a:r>
              <a:t>① 本頁結論：所有的指責都是未獲滿足需要的悲劇表達；NVC 讓我們繞過防禦機制，直達彼此的心靈核心。</a:t>
            </a:r>
          </a:p>
          <a:p>
            <a:r>
              <a:t>② 補充說明：入門者常把觀點當事實，把命令當請求。依序落實四步，就能將攻擊性的辯駁轉化為建設性的合作對話。</a:t>
            </a:r>
          </a:p>
          <a:p>
            <a:r>
              <a:t>③ 下一頁轉場：在掌握了行為、思維與關係後，人生難免會遭遇劇烈變故與重大轉向——我們進入模組四：轉折期的改變。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4：連鎖論法 (Chain / Flow) ｜ McKinsey &amp; Company</a:t>
            </a:r>
          </a:p>
          <a:p>
            <a:r>
              <a:t>① 本頁結論：外在的改變發生在一瞬間，但內在的心理轉折需要經過漫長的哀傷、等待與孵化。</a:t>
            </a:r>
          </a:p>
          <a:p>
            <a:r>
              <a:t>② 補充說明：人們最害怕中性區間的迷茫，但迷茫正是創新的溫床。進階者懂得陪伴自己在中性區間沉澱，而不是慌忙抓住下一個救命稻草。</a:t>
            </a:r>
          </a:p>
          <a:p>
            <a:r>
              <a:t>③ 下一頁轉場：在轉折期面臨重大職涯或人生選擇時，我們該依據什麼模型來做決策？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8：BCG 論法 (BCG 2×2 Matrix) ｜ BCG (Boston Consulting Group)</a:t>
            </a:r>
          </a:p>
          <a:p>
            <a:r>
              <a:t>① 本頁結論：職業轉型的真正祕訣不是『先想清楚再行動』，而是『先行動起來，在實踐中看見可能的自己』。</a:t>
            </a:r>
          </a:p>
          <a:p>
            <a:r>
              <a:t>② 補充說明：對角線呈現了傳統保守困局與現代多元自我的鮮明對立。透過平行實驗，我們得以在保障生存的同時，給新自我充足的生長時間。</a:t>
            </a:r>
          </a:p>
          <a:p>
            <a:r>
              <a:t>③ 下一頁轉場：當我們穿越轉折的試煉，我們又是如何詮釋這段旅程？這涉及到敘事心理學與坎伯的英雄之旅。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3：結合論法 (Combined Tree) ｜ Accenture</a:t>
            </a:r>
          </a:p>
          <a:p>
            <a:r>
              <a:t>① 本頁結論：事件本身沒有絕對意義，是我們講述故事的方式定義了人生。從『污染故事』轉向『救贖故事』，人就成為了英雄。</a:t>
            </a:r>
          </a:p>
          <a:p>
            <a:r>
              <a:t>② 補充說明：英雄之旅不是神話，而是每個人自我演化的必經儀式。苦難若無領悟，就只是創傷；苦難若伴隨救贖，就成為無價的生命恩賜。</a:t>
            </a:r>
          </a:p>
          <a:p>
            <a:r>
              <a:t>③ 下一頁轉場：最後，將視角拉伸至整個人生維度——我們進入模組五：人生發展階段與人生地圖。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5：麥肯錫矩陣 (McKinsey Matrix) ｜ McKinsey &amp; Company</a:t>
            </a:r>
          </a:p>
          <a:p>
            <a:r>
              <a:t>① 本頁結論：人生不是一場有標準答案的競速賽，而是一幅依序展開的生命地圖；每個年齡段都有其不可替代的心靈使命。</a:t>
            </a:r>
          </a:p>
          <a:p>
            <a:r>
              <a:t>② 補充說明：很多人在中年焦慮或晚年空虛，往往是因為前期任務未解。看懂地圖，我們就能寬容地對待自己的年齡，專注於當下階段的核心課題。</a:t>
            </a:r>
          </a:p>
          <a:p>
            <a:r>
              <a:t>③ 下一頁轉場：綜觀全書五大模組，我們如何將這些深刻的心理學智慧落實為日常行動？我們看最後一頁的總結行動藍圖。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【採用版型與風格】版型 2：並列論法 (Parallel) ｜ McKinsey &amp; Company</a:t>
            </a:r>
          </a:p>
          <a:p>
            <a:r>
              <a:t>① 本頁結論：自我發展不是一場一蹴而就的風暴，而是一場潤物無聲的系統演化。</a:t>
            </a:r>
          </a:p>
          <a:p>
            <a:r>
              <a:t>② 補充說明：從行為的小步開始，以思維的彈性維持張力，在關係的邊界中守護自我，最後在轉折與歲月中走出屬於自己的英雄之旅。</a:t>
            </a:r>
          </a:p>
          <a:p>
            <a:r>
              <a:t>③ 下一頁轉場：願每位讀者都能看懂自己的心理系統，成為『了不起的自己』！感謝聆聽。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" y="1463040"/>
            <a:ext cx="164592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4592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ZERO-NOISE CONSULTING BRIEFING  |  McKinsey・BCG・Accenture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自我發展心理學：實現人生突破的系統方法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8404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E2E8F0"/>
                </a:solidFill>
              </a:defRPr>
            </a:pPr>
            <a:r>
              <a:t>核心主張：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39496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BAC4D2"/>
                </a:solidFill>
              </a:defRPr>
            </a:pPr>
            <a:r>
              <a:t>方法論來源：前 BCG 顧問森秀明《無雜訊簡報製作法》 × 三大管顧視覺系統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全書架構總覽  ｜  版型 3：結合論法 (Combined Tree)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2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主張：人生突破本質為「心理系統升級」，須由行動、思維、關係至人生地圖五維深化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依「結合論法」推導：頂層自我進化必須由底層三大支柱與兩大進階場景共同支撐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陳海賢《了不起的我：自我發展的心理學》全書架構 ｜ 大衛雲 2.0 心理學知識庫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模組一：行為的改變  ｜  版型 4：連鎖論法 (Chain / Flow)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3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主張：改變發生於「具體新經驗」的獲得，而非依賴理性說服情感大象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因果因應鏈：理性指引 ➔ 情感激發 ➔ 微步啟動 ➔ 經驗鞏固新迴路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得到《自我發展心理學》第02-08講 ｜ Haidt 象與騎象人模型 × 經驗學習理論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行為阻力深層診斷  ｜  版型 5：麥肯錫矩陣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4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主張：所有停滯與拖延背後皆有「隱含好處」，須透視心理免疫之重大假設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Kegan 心理免疫 X 光片：沿著改變流程四維度，逐層揭露維持現狀的潛意識安全防護網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得到《自我發展心理學》第04-05講 ｜ Robert Kegan &amp; Lisa Lahey《心理免疫系統 (Immunity to Change)》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系統改變層次  ｜  版型 6：對立論法 (Opposition)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主張：陷入困境常因「第一序列改變」的徒勞循環，升級遊戲規則方為根本之道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對立論法維度比較：系統內部狀態微調 (More of the same) vs. 跳脫系統規則重構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得到《自我發展心理學》第09講 ｜ Watzlawick《改變：問題形成與解決的原則》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見解 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見解 B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F3E8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系統本質定義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在現有系統與既定規則內改變狀態，本質是「更多同樣的努力」(More of the Same)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改變系統本身運作邏輯與邊界，重寫遊戲規則與假設，創造質的飛躍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F3E8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典型行為範式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失眠時逼自己數羊強制入睡；親子衝突時加大懲罰力度；工作超載時拚命壓縮睡眠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接納睡不著而起床看書（消除睡眠焦慮）；改換溝通契約；砍掉無效業務與重構授權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F3E8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核心致命代價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「企圖解決問題的手段，本身反倒成了最核心的問題」，引發系統性反彈與倦怠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需承受短暫的不確定性、告別既有掌控幻覺，對當事人需要更多勇氣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F3E8FF"/>
          </a:solidFill>
          <a:ln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11827"/>
                </a:solidFill>
              </a:defRPr>
            </a:pPr>
            <a:r>
              <a:t>思維切換心法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「只要我再努力一點、再自律一點，事情一定會好轉」（執著於局部操作）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9FA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停下來問：「我是否正用製造問題的思維在解決問題？如何顛覆既定框架？」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模組二：思維的改變  ｜  版型 8：BCG 論法 (BCG 2×2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主張：擺脫「證明自己」轉向「發展自己」，高抗逆力源於成長探索心態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以目標導向軸 (X) 與挫折應對軸 (Y) 構成心智模式 2×2 矩陣，高亮右上角終身成長區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得到《自我發展心理學》第10-12講 ｜ Carol Dweck《心態致勝 (Mindset)》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371600" cy="3749039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挫折應對 (Y)</a:t>
            </a:r>
            <a:br/>
            <a:br/>
            <a:r>
              <a:t>探索好奇 (Y2)</a:t>
            </a:r>
            <a:br/>
            <a:r>
              <a:t>▲</a:t>
            </a:r>
            <a:br/>
            <a:r>
              <a:t>│</a:t>
            </a:r>
            <a:br/>
            <a:r>
              <a:t>▼</a:t>
            </a:r>
            <a:br/>
            <a:r>
              <a:t>威脅防禦 (Y1)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760720"/>
            <a:ext cx="9052560" cy="438912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◄ 表現目標：證明自我價值 (X1)          ② 目標導向 (X)          學習目標：能力持續進化 (X2)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74519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(證據 X1Y2) 冒牌者焦慮區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雖對新知好奇，但內心仍渴望他人認可；擔心光環褪色，承受高度內在冒牌者壓力。</a:t>
            </a:r>
            <a:br/>
            <a:r>
              <a:t>• 應對策略：將他人評價與內在自我價值脫鉤。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4434840" cy="1810512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4F32"/>
                </a:solidFill>
              </a:defRPr>
            </a:pPr>
            <a:r>
              <a:t>③ (證據 X2Y2) 成長探索型 ★ 策略核心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將錯誤視為高價值回饋數據；不害怕暴露無知，聚焦於「我今天比昨天多學會了什麼」。</a:t>
            </a:r>
            <a:br/>
            <a:r>
              <a:t>• 核心優勢：高度心理韌性，終身複利成長。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(證據 X1Y1) 僵固防禦區 (對立面)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活在別人的評判中；將挫折等同於「我能力不行」，迴避挑戰、嫉妒他人成功。</a:t>
            </a:r>
            <a:br/>
            <a:r>
              <a:t>• 典型心態：脆弱的高自尊，一觸即潰。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(證據 X2Y1) 謹慎保守區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渴望成長但對風險極度敏感；只在高度安全、確保不犯錯的小領域進行漸進微調。</a:t>
            </a:r>
            <a:br/>
            <a:r>
              <a:t>• 應對策略：設計容錯空間，主動犯可承受的小錯。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認知偏差解毒劑  ｜  版型 6：對立論法 (Opposition)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7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主張：痛苦源於把「願望」誤判為「理所當然」，理情反駁是破除防禦的利刃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對立論法：應該思維 (Should Thinking) 之扭曲盲區 vs. 接納現實與 ABC 理情反駁法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得到《自我發展心理學》第13-16講 ｜ Karen Horney「應該的暴政」× Albert Ellis 理性情緒行為療法 (REBT)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4297680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見解 A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828800"/>
            <a:ext cx="4297680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 見解 B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468880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對待外在世界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5176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「世界應該公平、計畫應該順利、他人應該理解我」；一旦現實不如願，立刻陷入憤怒、怨懟與受害者心態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2468880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「我希望如此，但世界本來就不以我的意志為轉移」；尊重現實規律，基於事實做出理性應對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3447288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對待內在自我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「我應該隨時保持樂觀冷靜、我絕不能感到焦慮恐慌」；用理想自我殘酷壓抑真實自我，產生情緒羞恥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3447288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80" y="3520440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「情緒是來訪的客人」；接納情緒的客觀存在，允許自己脆弱，看懂情緒背後的真實心理需求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425696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悲觀絕對化陷阱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5176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陷入 Seligman 3P 陷阱：永久化（永遠好不起來）、普遍化（所有事全完了）、人格化（全是我的無能）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0" y="4425696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9480" y="4498848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限定化思考：此挫折是暫時的（Temporary）、局部的（Specific）、受多重客觀因素影響的</a:t>
            </a:r>
          </a:p>
        </p:txBody>
      </p:sp>
      <p:sp>
        <p:nvSpPr>
          <p:cNvPr id="24" name="Oval 23"/>
          <p:cNvSpPr/>
          <p:nvPr/>
        </p:nvSpPr>
        <p:spPr>
          <a:xfrm>
            <a:off x="731520" y="5404104"/>
            <a:ext cx="1737360" cy="868680"/>
          </a:xfrm>
          <a:prstGeom prst="ellipse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51C2C"/>
                </a:solidFill>
              </a:defRPr>
            </a:pPr>
            <a:r>
              <a:t>Ellis ABC 反駁法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51760" y="5404104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盲信直覺：誘發事件 (A) 直接導致了情緒與痛苦 (C)，將自己困在無力改變的受害者牢籠中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5404104"/>
            <a:ext cx="4297680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69480" y="5477256"/>
            <a:ext cx="4023360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F2937"/>
                </a:solidFill>
              </a:defRPr>
            </a:pPr>
            <a:r>
              <a:t>信念介入：看清是信念 (B) 決定了 (C)；主動進行 D (Disputation 反駁)：「我有什麼證據證明這一定如此？」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執行力心智引擎  ｜  版型 7：比較論法 (Comparison)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8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主張：樂觀願望需碰撞內在障礙方釋放張力，精力聚焦於可控方能終結內耗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找出 WOOP 心理對比 (左) 與 斯多葛控制兩分法 (右) 的獨特優勢與「精準行動」核心交集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得到《自我發展心理學》第17-19講 ｜ Oettingen《WOOP思維心理學》× 斯多葛哲學手冊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965960"/>
            <a:ext cx="3474720" cy="4114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04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965960"/>
            <a:ext cx="3474720" cy="4114800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55279" y="1965960"/>
            <a:ext cx="3474720" cy="411480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177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004F32"/>
                </a:solidFill>
              </a:defRPr>
            </a:pPr>
            <a:r>
              <a:t>① WOOP 行動引擎（Gabriele Oettingen）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W (Wish)：設定真正有意義的心願目標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O (Outcome)：生動想像達成目標的最佳情境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O (Obstacle)：直面最核心的「內在心理障礙」（非外在藉口）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P (Plan)：制定 If-Then 執行意圖（如果遇到障礙X，我就做行動Y）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特徵：以心理對比創造不可遏制的『結構性張力』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29BA74"/>
                </a:solidFill>
              </a:defRPr>
            </a:pPr>
            <a:r>
              <a:t>③ 核心交集：高效行動之終極閉環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【兩者共通心法】：拒絕被動的空想樂觀主義，全面回歸客觀現實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【實踐黃金公式】：用控制兩分法鎖定『完全可控』之範疇，作為 WOOP 的 If-Then 落地執行方案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【心理效益】：徹底切斷精神內耗，將焦慮轉化為此時此地的篤定推進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9" y="2148840"/>
            <a:ext cx="3108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50" b="1">
                <a:solidFill>
                  <a:srgbClr val="177B57"/>
                </a:solidFill>
              </a:defRPr>
            </a:pPr>
            <a:r>
              <a:t>① 控制兩分法（Epictetus 斯多葛哲學）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不可控圈（果斷放手）：他人想法、評價、外在成敗、歷史過去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可控圈（100%投入）：個人信念、當前投入、情緒應對、行為邊界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核心洞察：所有煩惱皆來自『企圖控制不可控之事』與『忽視完全可控之事』</a:t>
            </a:r>
          </a:p>
          <a:p>
            <a:pPr>
              <a:spcAft>
                <a:spcPts val="800"/>
              </a:spcAft>
              <a:defRPr sz="1250">
                <a:solidFill>
                  <a:srgbClr val="1F2937"/>
                </a:solidFill>
              </a:defRPr>
            </a:pPr>
            <a:r>
              <a:t>• 特徵：劃清控制界限，獲得內心無堅不摧的寧靜（Ataraxia）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模組三：關係的改變  ｜  版型 5：麥肯錫矩陣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9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主張：人際困境非單一個人性格缺陷，而是彼此角色互補構建的循環反饋系統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系統視角診斷矩陣：由語言層次、角色分工、因果反饋至新關係契約之四階透視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得到《自我發展心理學》第22-25講 ｜ 系統家庭治療 (Systemic Therapy) × 關係溝通分析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關係解套路徑  ｜  版型 4：連鎖論法 (Chain / Flow)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10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主張：焦慮本能拉入第三方形成三角僵局，課題分離是劃清界限之關鍵解方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因果演化鏈：雙人衝突焦慮 ➔ 拉入第三方結盟 ➔ 角色糾纏內耗 ➔ 課題分離脫鉤重組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得到《自我發展心理學》第26-31講 ｜ Murray Bowen 家庭系統去三角化 × Alfred Adler 個體心理學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溝通實踐工具  ｜  版型 4：連鎖論法 (Chain / Flow)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11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主張：褪去批判防衛外衣，以「觀察-感受-需要-請求」重建高質量對話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非暴力溝通 (NVC) 推進四步法：客觀事實 ➔ 真實情緒 ➔ 底層渴望 ➔ 具體行動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得到《自我發展心理學》第32講 ｜ Marshall Rosenberg《非暴力溝通 (Nonviolent Communication)》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模組四：轉折期的改變  ｜  版型 4：連鎖論法 (Chain / Flow)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12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主張：改變是外在事件，轉折是內在心理過渡，必經「結束-迷茫-重生」三部曲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威廉·布里奇斯 (William Bridges) 轉折過渡時序鏈：脫離舊自我 ➔ 耐受迷茫中性區 ➔ 萌發新生命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得到《自我發展心理學》第34-37, 41講 ｜ William Bridges《轉折人生 (Transitions)》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9BA74"/>
                </a:solidFill>
              </a:defRPr>
            </a:pPr>
            <a:r>
              <a:t>轉型決策矩陣  ｜  版型 8：BCG 論法 (BCG 2×2 Matrix)  ｜  BCG (Boston Consulting Group)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B7280"/>
                </a:solidFill>
              </a:defRPr>
            </a:pPr>
            <a:r>
              <a:t>13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04F32"/>
                </a:solidFill>
              </a:defRPr>
            </a:pPr>
            <a:r>
              <a:t>① 主張：轉折期決策不可僅靠「經濟模型」，需以「心理模型」實驗多元可能自我</a:t>
            </a:r>
          </a:p>
          <a:p>
            <a:pPr>
              <a:defRPr sz="1250">
                <a:solidFill>
                  <a:srgbClr val="6B7280"/>
                </a:solidFill>
              </a:defRPr>
            </a:pPr>
            <a:r>
              <a:t>決策依據軸 (X) 與 轉型策略軸 (Y) 構成轉型 2×2 矩陣，高亮右上角平行實驗區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B7280"/>
                </a:solidFill>
              </a:defRPr>
            </a:pPr>
            <a:r>
              <a:t>Source: 得到《自我發展心理學》第38, 40講 ｜ Herminia Ibarra《自我轉變 (Working Identity)》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874519"/>
            <a:ext cx="1371600" cy="3749039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② 轉型策略 (Y)</a:t>
            </a:r>
            <a:br/>
            <a:br/>
            <a:r>
              <a:t>平行小步試驗 (Y2)</a:t>
            </a:r>
            <a:br/>
            <a:r>
              <a:t>▲</a:t>
            </a:r>
            <a:br/>
            <a:r>
              <a:t>│</a:t>
            </a:r>
            <a:br/>
            <a:r>
              <a:t>▼</a:t>
            </a:r>
            <a:br/>
            <a:r>
              <a:t>一刀切豪賭 (Y1)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5760720"/>
            <a:ext cx="9052560" cy="438912"/>
          </a:xfrm>
          <a:prstGeom prst="rect">
            <a:avLst/>
          </a:prstGeom>
          <a:solidFill>
            <a:srgbClr val="004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◄ 經濟模型：外在性價比與回報 (X1)          ② 決策依據 (X)          心理模型：內在契合與自我拓展 (X2) 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874519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(證據 X1Y2) 功利副業試驗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在維持正職下做高回報副業；雖分散經濟風險，但若缺乏熱情，容易淪為雙重疲憊。</a:t>
            </a:r>
            <a:br/>
            <a:r>
              <a:t>• 局限：難以觸及心靈深處的召喚與自我更新。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874519"/>
            <a:ext cx="4434840" cy="1810512"/>
          </a:xfrm>
          <a:prstGeom prst="roundRect">
            <a:avLst/>
          </a:prstGeom>
          <a:solidFill>
            <a:srgbClr val="DCFCE7"/>
          </a:solidFill>
          <a:ln w="25400">
            <a:solidFill>
              <a:srgbClr val="29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86600" y="2011679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4F32"/>
                </a:solidFill>
              </a:defRPr>
            </a:pPr>
            <a:r>
              <a:t>③ (證據 X2Y2) 多元可能自我 ★ 策略高亮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Herminia Ibarra 理論：保留生存底線，利用業餘時間啟動低風險新專案，以行動培育新身分。</a:t>
            </a:r>
            <a:br/>
            <a:r>
              <a:t>• 核心優勢：邊做邊學、安全試錯、自然演化。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(證據 X1Y1) 傳統困局 (對立面)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困在沉沒成本與安穩薪水牢籠中；即便內心枯竭，仍用外在性價比說服自己繼續忍耐。</a:t>
            </a:r>
            <a:br/>
            <a:r>
              <a:t>• 結果：中年危機、職業倦怠、活力喪失。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3822191"/>
            <a:ext cx="4434840" cy="1810512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3959352"/>
            <a:ext cx="4069079" cy="1536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77B57"/>
                </a:solidFill>
              </a:defRPr>
            </a:pPr>
            <a:r>
              <a:t>③ (證據 X2Y1) 盲目衝動裸辭</a:t>
            </a:r>
          </a:p>
          <a:p>
            <a:pPr>
              <a:defRPr sz="1200">
                <a:solidFill>
                  <a:srgbClr val="1F2937"/>
                </a:solidFill>
              </a:defRPr>
            </a:pPr>
            <a:r>
              <a:t>厭倦現狀後盲目豪賭；缺乏經驗與經濟緩衝，殘酷的現實壓力迅速扼殺剛萌芽的新身分。</a:t>
            </a:r>
            <a:br/>
            <a:r>
              <a:t>• 教訓：將心理轉向誤認為純粹的外在換跑道。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A100FF"/>
                </a:solidFill>
              </a:defRPr>
            </a:pPr>
            <a:r>
              <a:t>意義感重構與自我神話  ｜  版型 3：結合論法 (Combined Tree)  ｜  Accenture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14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111827"/>
                </a:solidFill>
              </a:defRPr>
            </a:pPr>
            <a:r>
              <a:t>① 主張：我們並非經歷的被動產物，而是能透過「救贖敘事」重構人生的英雄作者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坎伯 (Joseph Campbell) 單子神話三幕演進樹：由啟程、深淵啟蒙至回歸饋贈之自我進化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得到《自我發展心理學》第42-43講 ｜ Joseph Campbell《千面英雄》× Dan McAdams 敘事心理學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模組五：人生發展階段  ｜  版型 5：麥肯錫矩陣 (McKinsey Matrix)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15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主張：生命由一系列心理社會任務構成，各階段皆有其獨特危機與核心美德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埃里克森 (Erik Erikson) 人生四大成年階段演化矩陣：青春期 ➔ 成年早期 ➔ 中年期 ➔ 晚年期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得到《自我發展心理學》第44-50講 ｜ Erik Erikson 心理社會發展八階段理論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601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D97706"/>
                </a:solidFill>
              </a:defRPr>
            </a:pPr>
            <a:r>
              <a:t>總結落地行動藍圖  ｜  版型 2：並列論法 (Parallel)  ｜  McKinsey &amp; Company Style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332720" y="365760"/>
            <a:ext cx="1097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50">
                <a:solidFill>
                  <a:srgbClr val="64748B"/>
                </a:solidFill>
              </a:defRPr>
            </a:pPr>
            <a:r>
              <a:t>16 /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051C2C"/>
                </a:solidFill>
              </a:defRPr>
            </a:pPr>
            <a:r>
              <a:t>① 主張：啟動自我發展的落地三角：行為微步化、思維彈性化、關係邊界化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並列論法三大執行支柱：將 50 講心理學洞察轉化為日常生活的高效實踐習慣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27632"/>
            <a:ext cx="10728655" cy="2286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Source: 陳海賢《了不起的我：自我發展的心理學》總結 ｜ 大衛雲 2.0 專業管理・個人成長 A2.2.4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支柱一：行為微步化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【最小可控行動】：運用奇蹟提問倒推第一步，阻力小到大象完全感受不到威脅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【環境場設計】：固定場景綁定單一行為線索，以物理空間自動觸發微習慣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【破除免疫系統】：定期填寫心理免疫四欄表，看透拖延背後的重大假設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【第二序列躍遷】：當努力無效時果斷暫停，重新定義問題與遊戲規則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1874519"/>
            <a:ext cx="3393338" cy="502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支柱二：思維彈性化 ★ 核心中樞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2058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【WOOP 行動閉環】：願望 ➔ 結果 ➔ 內在障礙 ➔ If-Then 執行意圖精準對接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【控制兩分法】：焦慮時劃分「完全可控」與「不可控」，100% 精力收斂於前者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【ABC 理情反駁】：打破應該思維暴政，區分主觀願望與客觀事實，進行信念質疑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【成長探索心態】：把犯錯當作高價值數據回饋，以學習目標取代自我證明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6836" y="1874519"/>
            <a:ext cx="3393338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66836" y="1874519"/>
            <a:ext cx="3393338" cy="5029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支柱三：關係邊界化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9716" y="2514600"/>
            <a:ext cx="3027578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1. 【阿德勒課題分離】：清楚界定責任歸屬，誰承受後果誰承擔，堅定退出三角化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2. 【非暴力溝通四步】：觀察事實 ➔ 坦誠感受 ➔ 洞察需要 ➔ 提出具體可執行請求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3. 【重構系統契約】：看懂追逃互補閉環，主動改變自身舞步，引領關係演化</a:t>
            </a:r>
          </a:p>
          <a:p>
            <a:pPr>
              <a:spcAft>
                <a:spcPts val="600"/>
              </a:spcAft>
              <a:defRPr sz="1250">
                <a:solidFill>
                  <a:srgbClr val="1F2937"/>
                </a:solidFill>
              </a:defRPr>
            </a:pPr>
            <a:r>
              <a:t>4. 【英雄之旅敘事】：以救贖故事重構挫折經歷，在中性區間耐心孵化新自我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